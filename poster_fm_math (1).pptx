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EB42B7-742D-43BF-74C4-4CFCB7D3D9C3}" v="363" dt="2026-04-20T19:34:59.5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079" autoAdjust="0"/>
    <p:restoredTop sz="94660"/>
  </p:normalViewPr>
  <p:slideViewPr>
    <p:cSldViewPr snapToGrid="0" snapToObjects="1">
      <p:cViewPr varScale="1">
        <p:scale>
          <a:sx n="102" d="100"/>
          <a:sy n="102" d="100"/>
        </p:scale>
        <p:origin x="74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uzhanee Deavion Spann" userId="S::tauzhanee.spann@g.fmarion.edu::f053a66b-eb4d-4e7a-bfc5-95b19df87ea6" providerId="AD" clId="Web-{A5EB42B7-742D-43BF-74C4-4CFCB7D3D9C3}"/>
    <pc:docChg chg="modSld">
      <pc:chgData name="Tauzhanee Deavion Spann" userId="S::tauzhanee.spann@g.fmarion.edu::f053a66b-eb4d-4e7a-bfc5-95b19df87ea6" providerId="AD" clId="Web-{A5EB42B7-742D-43BF-74C4-4CFCB7D3D9C3}" dt="2026-04-20T19:34:59.512" v="391" actId="1076"/>
      <pc:docMkLst>
        <pc:docMk/>
      </pc:docMkLst>
      <pc:sldChg chg="addSp delSp modSp">
        <pc:chgData name="Tauzhanee Deavion Spann" userId="S::tauzhanee.spann@g.fmarion.edu::f053a66b-eb4d-4e7a-bfc5-95b19df87ea6" providerId="AD" clId="Web-{A5EB42B7-742D-43BF-74C4-4CFCB7D3D9C3}" dt="2026-04-20T19:34:59.512" v="391" actId="1076"/>
        <pc:sldMkLst>
          <pc:docMk/>
          <pc:sldMk cId="4229446824" sldId="256"/>
        </pc:sldMkLst>
        <pc:spChg chg="mod">
          <ac:chgData name="Tauzhanee Deavion Spann" userId="S::tauzhanee.spann@g.fmarion.edu::f053a66b-eb4d-4e7a-bfc5-95b19df87ea6" providerId="AD" clId="Web-{A5EB42B7-742D-43BF-74C4-4CFCB7D3D9C3}" dt="2026-04-20T19:34:22.542" v="384" actId="20577"/>
          <ac:spMkLst>
            <pc:docMk/>
            <pc:sldMk cId="4229446824" sldId="256"/>
            <ac:spMk id="5" creationId="{1FC3D2E5-AC14-2D23-1EAE-4E16A6F75A62}"/>
          </ac:spMkLst>
        </pc:spChg>
        <pc:spChg chg="mod">
          <ac:chgData name="Tauzhanee Deavion Spann" userId="S::tauzhanee.spann@g.fmarion.edu::f053a66b-eb4d-4e7a-bfc5-95b19df87ea6" providerId="AD" clId="Web-{A5EB42B7-742D-43BF-74C4-4CFCB7D3D9C3}" dt="2026-04-20T19:09:14.421" v="285" actId="20577"/>
          <ac:spMkLst>
            <pc:docMk/>
            <pc:sldMk cId="4229446824" sldId="256"/>
            <ac:spMk id="6" creationId="{253D4F13-418A-9BD0-7CA6-763DDCE48475}"/>
          </ac:spMkLst>
        </pc:spChg>
        <pc:picChg chg="add mod">
          <ac:chgData name="Tauzhanee Deavion Spann" userId="S::tauzhanee.spann@g.fmarion.edu::f053a66b-eb4d-4e7a-bfc5-95b19df87ea6" providerId="AD" clId="Web-{A5EB42B7-742D-43BF-74C4-4CFCB7D3D9C3}" dt="2026-04-20T19:08:13.794" v="273" actId="14100"/>
          <ac:picMkLst>
            <pc:docMk/>
            <pc:sldMk cId="4229446824" sldId="256"/>
            <ac:picMk id="2" creationId="{0ECF5F77-A55C-8214-2FDC-7A74E3436E9B}"/>
          </ac:picMkLst>
        </pc:picChg>
        <pc:picChg chg="add mod">
          <ac:chgData name="Tauzhanee Deavion Spann" userId="S::tauzhanee.spann@g.fmarion.edu::f053a66b-eb4d-4e7a-bfc5-95b19df87ea6" providerId="AD" clId="Web-{A5EB42B7-742D-43BF-74C4-4CFCB7D3D9C3}" dt="2026-04-20T19:08:27.810" v="275" actId="1076"/>
          <ac:picMkLst>
            <pc:docMk/>
            <pc:sldMk cId="4229446824" sldId="256"/>
            <ac:picMk id="3" creationId="{B3BD97A6-BF00-66B6-C851-C0BC94C1214D}"/>
          </ac:picMkLst>
        </pc:picChg>
        <pc:picChg chg="add mod modCrop">
          <ac:chgData name="Tauzhanee Deavion Spann" userId="S::tauzhanee.spann@g.fmarion.edu::f053a66b-eb4d-4e7a-bfc5-95b19df87ea6" providerId="AD" clId="Web-{A5EB42B7-742D-43BF-74C4-4CFCB7D3D9C3}" dt="2026-04-20T19:11:55.268" v="313" actId="1076"/>
          <ac:picMkLst>
            <pc:docMk/>
            <pc:sldMk cId="4229446824" sldId="256"/>
            <ac:picMk id="9" creationId="{DF75E3B3-1C15-B3F4-14D3-922183A6B85F}"/>
          </ac:picMkLst>
        </pc:picChg>
        <pc:picChg chg="add del mod">
          <ac:chgData name="Tauzhanee Deavion Spann" userId="S::tauzhanee.spann@g.fmarion.edu::f053a66b-eb4d-4e7a-bfc5-95b19df87ea6" providerId="AD" clId="Web-{A5EB42B7-742D-43BF-74C4-4CFCB7D3D9C3}" dt="2026-04-20T19:13:46.582" v="338"/>
          <ac:picMkLst>
            <pc:docMk/>
            <pc:sldMk cId="4229446824" sldId="256"/>
            <ac:picMk id="10" creationId="{DEC1EAF4-B3E3-EDC9-74D4-A39AD7F5AB73}"/>
          </ac:picMkLst>
        </pc:picChg>
        <pc:picChg chg="add mod">
          <ac:chgData name="Tauzhanee Deavion Spann" userId="S::tauzhanee.spann@g.fmarion.edu::f053a66b-eb4d-4e7a-bfc5-95b19df87ea6" providerId="AD" clId="Web-{A5EB42B7-742D-43BF-74C4-4CFCB7D3D9C3}" dt="2026-04-20T19:28:25.459" v="346" actId="14100"/>
          <ac:picMkLst>
            <pc:docMk/>
            <pc:sldMk cId="4229446824" sldId="256"/>
            <ac:picMk id="11" creationId="{CA88F1F4-5231-B001-4EDF-388E347862F3}"/>
          </ac:picMkLst>
        </pc:picChg>
        <pc:picChg chg="add mod">
          <ac:chgData name="Tauzhanee Deavion Spann" userId="S::tauzhanee.spann@g.fmarion.edu::f053a66b-eb4d-4e7a-bfc5-95b19df87ea6" providerId="AD" clId="Web-{A5EB42B7-742D-43BF-74C4-4CFCB7D3D9C3}" dt="2026-04-20T19:34:59.512" v="391" actId="1076"/>
          <ac:picMkLst>
            <pc:docMk/>
            <pc:sldMk cId="4229446824" sldId="256"/>
            <ac:picMk id="12" creationId="{E9D21C8A-A05F-A7B7-522A-CAC0502394EC}"/>
          </ac:picMkLst>
        </pc:picChg>
      </pc:sldChg>
    </pc:docChg>
  </pc:docChgLst>
  <pc:docChgLst>
    <pc:chgData clId="Web-{A5EB42B7-742D-43BF-74C4-4CFCB7D3D9C3}"/>
    <pc:docChg chg="modSld">
      <pc:chgData name="" userId="" providerId="" clId="Web-{A5EB42B7-742D-43BF-74C4-4CFCB7D3D9C3}" dt="2026-04-20T18:35:07.443" v="3" actId="20577"/>
      <pc:docMkLst>
        <pc:docMk/>
      </pc:docMkLst>
      <pc:sldChg chg="modSp">
        <pc:chgData name="" userId="" providerId="" clId="Web-{A5EB42B7-742D-43BF-74C4-4CFCB7D3D9C3}" dt="2026-04-20T18:35:07.443" v="3" actId="20577"/>
        <pc:sldMkLst>
          <pc:docMk/>
          <pc:sldMk cId="4229446824" sldId="256"/>
        </pc:sldMkLst>
        <pc:spChg chg="mod">
          <ac:chgData name="" userId="" providerId="" clId="Web-{A5EB42B7-742D-43BF-74C4-4CFCB7D3D9C3}" dt="2026-04-20T18:35:07.443" v="3" actId="20577"/>
          <ac:spMkLst>
            <pc:docMk/>
            <pc:sldMk cId="4229446824" sldId="256"/>
            <ac:spMk id="6" creationId="{253D4F13-418A-9BD0-7CA6-763DDCE4847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73D5C6-1557-4E67-82B9-43A61D84F906}" type="datetimeFigureOut">
              <a:rPr lang="en-US" smtClean="0"/>
              <a:t>4/20/2026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B0727-47F7-4A19-9A7C-ECDF92D55FC4}" type="slidenum">
              <a:rPr lang="en-US" smtClean="0"/>
              <a:t>‹#›</a:t>
            </a:fld>
            <a:endParaRPr lang="en-US"/>
          </a:p>
        </p:txBody>
      </p:sp>
    </p:spTree>
    <p:extLst>
      <p:ext uri="{BB962C8B-B14F-4D97-AF65-F5344CB8AC3E}">
        <p14:creationId xmlns:p14="http://schemas.microsoft.com/office/powerpoint/2010/main" val="2929168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47ED03-EFC9-D743-BF67-3306039354D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39690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7ED03-EFC9-D743-BF67-3306039354D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677523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47ED03-EFC9-D743-BF67-3306039354D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3281715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47ED03-EFC9-D743-BF67-3306039354D9}"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3804155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47ED03-EFC9-D743-BF67-3306039354D9}"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385063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47ED03-EFC9-D743-BF67-3306039354D9}"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98104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47ED03-EFC9-D743-BF67-3306039354D9}"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1253873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7ED03-EFC9-D743-BF67-3306039354D9}"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466112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7ED03-EFC9-D743-BF67-3306039354D9}"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14273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7ED03-EFC9-D743-BF67-3306039354D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4285299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7ED03-EFC9-D743-BF67-3306039354D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3683831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7ED03-EFC9-D743-BF67-3306039354D9}" type="datetimeFigureOut">
              <a:rPr lang="en-US" smtClean="0"/>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AC698C-61C4-3D4C-888C-8E579CC8E6A7}" type="slidenum">
              <a:rPr lang="en-US" smtClean="0"/>
              <a:t>‹#›</a:t>
            </a:fld>
            <a:endParaRPr lang="en-US"/>
          </a:p>
        </p:txBody>
      </p:sp>
      <p:sp>
        <p:nvSpPr>
          <p:cNvPr id="8" name="Rectangle 7"/>
          <p:cNvSpPr/>
          <p:nvPr/>
        </p:nvSpPr>
        <p:spPr>
          <a:xfrm>
            <a:off x="0" y="0"/>
            <a:ext cx="9144000" cy="274320"/>
          </a:xfrm>
          <a:prstGeom prst="rect">
            <a:avLst/>
          </a:prstGeom>
          <a:solidFill>
            <a:schemeClr val="tx2">
              <a:lumMod val="5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2">
                  <a:lumMod val="75000"/>
                </a:schemeClr>
              </a:solidFill>
            </a:endParaRPr>
          </a:p>
        </p:txBody>
      </p:sp>
      <p:sp>
        <p:nvSpPr>
          <p:cNvPr id="9" name="Rectangle 8"/>
          <p:cNvSpPr/>
          <p:nvPr/>
        </p:nvSpPr>
        <p:spPr>
          <a:xfrm>
            <a:off x="0" y="6629400"/>
            <a:ext cx="9144000" cy="228600"/>
          </a:xfrm>
          <a:prstGeom prst="rect">
            <a:avLst/>
          </a:prstGeom>
          <a:solidFill>
            <a:schemeClr val="tx2">
              <a:lumMod val="5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2">
                  <a:lumMod val="75000"/>
                </a:schemeClr>
              </a:solidFill>
            </a:endParaRPr>
          </a:p>
        </p:txBody>
      </p:sp>
      <p:cxnSp>
        <p:nvCxnSpPr>
          <p:cNvPr id="13" name="Straight Connector 12"/>
          <p:cNvCxnSpPr/>
          <p:nvPr/>
        </p:nvCxnSpPr>
        <p:spPr>
          <a:xfrm>
            <a:off x="0" y="283464"/>
            <a:ext cx="9144000" cy="0"/>
          </a:xfrm>
          <a:prstGeom prst="line">
            <a:avLst/>
          </a:prstGeom>
          <a:ln w="28575" cmpd="sng">
            <a:solidFill>
              <a:srgbClr val="A0010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0" y="6629400"/>
            <a:ext cx="9144000" cy="0"/>
          </a:xfrm>
          <a:prstGeom prst="line">
            <a:avLst/>
          </a:prstGeom>
          <a:ln w="28575" cmpd="sng">
            <a:solidFill>
              <a:srgbClr val="A00101"/>
            </a:solidFill>
          </a:ln>
          <a:effectLst/>
        </p:spPr>
        <p:style>
          <a:lnRef idx="2">
            <a:schemeClr val="accent1"/>
          </a:lnRef>
          <a:fillRef idx="0">
            <a:schemeClr val="accent1"/>
          </a:fillRef>
          <a:effectRef idx="1">
            <a:schemeClr val="accent1"/>
          </a:effectRef>
          <a:fontRef idx="minor">
            <a:schemeClr val="tx1"/>
          </a:fontRef>
        </p:style>
      </p:cxnSp>
      <p:pic>
        <p:nvPicPr>
          <p:cNvPr id="10" name="Picture 9"/>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526" y="160224"/>
            <a:ext cx="965834" cy="1045469"/>
          </a:xfrm>
          <a:prstGeom prst="rect">
            <a:avLst/>
          </a:prstGeom>
        </p:spPr>
      </p:pic>
    </p:spTree>
    <p:extLst>
      <p:ext uri="{BB962C8B-B14F-4D97-AF65-F5344CB8AC3E}">
        <p14:creationId xmlns:p14="http://schemas.microsoft.com/office/powerpoint/2010/main" val="3003093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cuemath.com/algebra/objective-function/" TargetMode="External"/><Relationship Id="rId7" Type="http://schemas.openxmlformats.org/officeDocument/2006/relationships/image" Target="../media/image3.png"/><Relationship Id="rId2" Type="http://schemas.openxmlformats.org/officeDocument/2006/relationships/hyperlink" Target="https://www.numberanalytics.com/blog/graph-theory-fundamentals-beginners-guide" TargetMode="Externa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https://en.wikipedia.org/wiki/Branch_and_bound" TargetMode="External"/><Relationship Id="rId10" Type="http://schemas.openxmlformats.org/officeDocument/2006/relationships/image" Target="../media/image6.png"/><Relationship Id="rId4" Type="http://schemas.openxmlformats.org/officeDocument/2006/relationships/hyperlink" Target="https://support.microsoft.com/en-us/office/define-and-solve-a-problem-by-using-solver-5d1a388f-079d-43ac-a7eb-f63e45925040"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A68A4C3-8F8A-82DF-1FAF-C2CEE2D1B7EA}"/>
              </a:ext>
            </a:extLst>
          </p:cNvPr>
          <p:cNvSpPr txBox="1">
            <a:spLocks/>
          </p:cNvSpPr>
          <p:nvPr/>
        </p:nvSpPr>
        <p:spPr>
          <a:xfrm>
            <a:off x="214685" y="1089382"/>
            <a:ext cx="2775005" cy="5640927"/>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sz="800" b="1" dirty="0"/>
              <a:t>Abstract:</a:t>
            </a:r>
          </a:p>
          <a:p>
            <a:pPr algn="l"/>
            <a:r>
              <a:rPr lang="en-US" sz="800" dirty="0"/>
              <a:t>This project addresses inefficiencies in the 2025–2026 Francis Marion University’s Women’s Soccer schedule, where teams travel separately and play on different days, increasing costs. Using graph theory, the branch and bound method, and linear programming with a matrix-based objective function, the model minimizes travel and improves coordination while maintaining a balanced round-robin schedule.</a:t>
            </a:r>
          </a:p>
          <a:p>
            <a:pPr algn="l"/>
            <a:r>
              <a:rPr lang="en-US" sz="800" b="1" dirty="0"/>
              <a:t>Background on Data Set:</a:t>
            </a:r>
          </a:p>
          <a:p>
            <a:pPr algn="l"/>
            <a:r>
              <a:rPr lang="en-US" sz="800" dirty="0"/>
              <a:t>The dataset consists of travel distances between Conference Carolinas women’s soccer teams. Each team represents a node, and the distance between schools represents weighted edges in a graph. The focus is on non-division matchups, where not all teams are required to play each other, creating an uneven scheduling problem. A distance matrix was constructed to store mileage between each pair of teams, which serves as the foundation for the optimization model.</a:t>
            </a:r>
          </a:p>
          <a:p>
            <a:pPr algn="l"/>
            <a:r>
              <a:rPr lang="en-US" sz="800" b="1" dirty="0"/>
              <a:t>Background on Software/Hardware:</a:t>
            </a:r>
          </a:p>
          <a:p>
            <a:pPr algn="l"/>
            <a:r>
              <a:rPr lang="en-US" sz="800" dirty="0"/>
              <a:t>This project uses OpenSolver, an open-source extension of Excel that enables large-scale optimization beyond the limits of the built-in Excel Solver. Due to the size of the decision matrix and number of constraints, Excel Solver was not sufficient. OpenSolver allows for significantly more variables and constraints and uses advanced algorithms (such as linear programming solvers and Branch and Bound methods) to compute optimal solutions efficiently.</a:t>
            </a:r>
          </a:p>
          <a:p>
            <a:pPr algn="l"/>
            <a:r>
              <a:rPr lang="en-US" sz="800" b="1" dirty="0"/>
              <a:t>Background on Models Used:</a:t>
            </a:r>
          </a:p>
          <a:p>
            <a:pPr algn="l"/>
            <a:r>
              <a:rPr lang="en-US" sz="800" dirty="0"/>
              <a:t>Describe models used. </a:t>
            </a:r>
          </a:p>
          <a:p>
            <a:pPr algn="l"/>
            <a:r>
              <a:rPr lang="en-US" sz="800" dirty="0"/>
              <a:t>This project combines Graph Theory and Linear Programming</a:t>
            </a:r>
          </a:p>
          <a:p>
            <a:pPr marL="171450" indent="-171450" algn="l">
              <a:buFont typeface="Arial" panose="020B0604020202020204" pitchFamily="34" charset="0"/>
              <a:buChar char="•"/>
            </a:pPr>
            <a:r>
              <a:rPr lang="en-US" sz="800" dirty="0"/>
              <a:t>Graph Theory:</a:t>
            </a:r>
          </a:p>
          <a:p>
            <a:pPr marL="628650" lvl="1" indent="-171450" algn="l">
              <a:buFont typeface="Arial" panose="020B0604020202020204" pitchFamily="34" charset="0"/>
              <a:buChar char="•"/>
            </a:pPr>
            <a:r>
              <a:rPr lang="en-US" sz="800" dirty="0"/>
              <a:t>The conference is modeled as a weighted graph where:</a:t>
            </a:r>
          </a:p>
          <a:p>
            <a:pPr marL="628650" lvl="1" indent="-171450" algn="l">
              <a:buFont typeface="Arial" panose="020B0604020202020204" pitchFamily="34" charset="0"/>
              <a:buChar char="•"/>
            </a:pPr>
            <a:r>
              <a:rPr lang="en-US" sz="800" dirty="0"/>
              <a:t>Nodes = teams</a:t>
            </a:r>
          </a:p>
          <a:p>
            <a:pPr marL="628650" lvl="1" indent="-171450" algn="l">
              <a:buFont typeface="Arial" panose="020B0604020202020204" pitchFamily="34" charset="0"/>
              <a:buChar char="•"/>
            </a:pPr>
            <a:r>
              <a:rPr lang="en-US" sz="800" dirty="0"/>
              <a:t>Edges = travel distances</a:t>
            </a:r>
          </a:p>
          <a:p>
            <a:pPr marL="628650" lvl="1" indent="-171450" algn="l">
              <a:buFont typeface="Arial" panose="020B0604020202020204" pitchFamily="34" charset="0"/>
              <a:buChar char="•"/>
            </a:pPr>
            <a:r>
              <a:rPr lang="en-US" sz="800" dirty="0"/>
              <a:t>A star graph structure is used to simplify visualization.</a:t>
            </a:r>
          </a:p>
          <a:p>
            <a:pPr marL="171450" indent="-171450" algn="l">
              <a:buFont typeface="Arial" panose="020B0604020202020204" pitchFamily="34" charset="0"/>
              <a:buChar char="•"/>
            </a:pPr>
            <a:r>
              <a:rPr lang="en-US" sz="800" dirty="0"/>
              <a:t>Linear Programming Model: The objective function minimizes total travel distance: Z = total mileage</a:t>
            </a:r>
          </a:p>
          <a:p>
            <a:pPr marL="171450" indent="-171450" algn="l">
              <a:buFont typeface="Arial" panose="020B0604020202020204" pitchFamily="34" charset="0"/>
              <a:buChar char="•"/>
            </a:pPr>
            <a:r>
              <a:rPr lang="en-US" sz="800" dirty="0"/>
              <a:t>Integer Programming (Branch and Bound):Since games are either scheduled or not (0 or 1), binary decision variables are required. Branch and Bound ensures only whole-number solutions are considered.</a:t>
            </a:r>
          </a:p>
          <a:p>
            <a:endParaRPr lang="en-US" sz="800" dirty="0"/>
          </a:p>
        </p:txBody>
      </p:sp>
      <p:sp>
        <p:nvSpPr>
          <p:cNvPr id="5" name="Content Placeholder 9">
            <a:extLst>
              <a:ext uri="{FF2B5EF4-FFF2-40B4-BE49-F238E27FC236}">
                <a16:creationId xmlns:a16="http://schemas.microsoft.com/office/drawing/2014/main" id="{1FC3D2E5-AC14-2D23-1EAE-4E16A6F75A62}"/>
              </a:ext>
            </a:extLst>
          </p:cNvPr>
          <p:cNvSpPr txBox="1">
            <a:spLocks/>
          </p:cNvSpPr>
          <p:nvPr/>
        </p:nvSpPr>
        <p:spPr>
          <a:xfrm>
            <a:off x="3195320" y="1089381"/>
            <a:ext cx="2983981" cy="5640927"/>
          </a:xfrm>
          <a:prstGeom prst="rect">
            <a:avLst/>
          </a:prstGeom>
        </p:spPr>
        <p:txBody>
          <a:bodyPr vert="horz" lIns="91440" tIns="45720" rIns="91440" bIns="45720" rtlCol="0" anchor="t">
            <a:normAutofit lnSpcReduction="10000"/>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sz="800" b="1"/>
              <a:t>Describe Methodology</a:t>
            </a:r>
            <a:r>
              <a:rPr lang="en-US" sz="800"/>
              <a:t>:</a:t>
            </a:r>
          </a:p>
          <a:p>
            <a:pPr marL="228600" indent="-228600">
              <a:buFont typeface="+mj-lt"/>
              <a:buAutoNum type="arabicPeriod"/>
            </a:pPr>
            <a:r>
              <a:rPr lang="en-US" sz="800"/>
              <a:t>Constructed a Graph for 2025-2026 Women's Soccer Conference Carolinas Games</a:t>
            </a:r>
            <a:endParaRPr lang="en-US" sz="800">
              <a:ea typeface="Calibri"/>
              <a:cs typeface="Calibri"/>
            </a:endParaRPr>
          </a:p>
          <a:p>
            <a:pPr marL="228600" indent="-228600">
              <a:buAutoNum type="arabicPeriod"/>
            </a:pPr>
            <a:endParaRPr lang="en-US" sz="800" dirty="0"/>
          </a:p>
          <a:p>
            <a:pPr marL="228600" indent="-228600">
              <a:buAutoNum type="arabicPeriod"/>
            </a:pPr>
            <a:endParaRPr lang="en-US" sz="800" dirty="0"/>
          </a:p>
          <a:p>
            <a:pPr marL="228600" indent="-228600">
              <a:buAutoNum type="arabicPeriod"/>
            </a:pPr>
            <a:endParaRPr lang="en-US" sz="800" dirty="0">
              <a:ea typeface="Calibri"/>
              <a:cs typeface="Calibri"/>
            </a:endParaRPr>
          </a:p>
          <a:p>
            <a:pPr marL="228600" indent="-228600">
              <a:buAutoNum type="arabicPeriod"/>
            </a:pPr>
            <a:endParaRPr lang="en-US" sz="800" dirty="0">
              <a:ea typeface="Calibri"/>
              <a:cs typeface="Calibri"/>
            </a:endParaRPr>
          </a:p>
          <a:p>
            <a:pPr marL="228600" indent="-228600">
              <a:buAutoNum type="arabicPeriod"/>
            </a:pPr>
            <a:endParaRPr lang="en-US" sz="800" dirty="0">
              <a:ea typeface="Calibri"/>
              <a:cs typeface="Calibri"/>
            </a:endParaRPr>
          </a:p>
          <a:p>
            <a:pPr marL="228600" indent="-228600">
              <a:buAutoNum type="arabicPeriod"/>
            </a:pPr>
            <a:endParaRPr lang="en-US" sz="800" dirty="0">
              <a:ea typeface="Calibri"/>
              <a:cs typeface="Calibri"/>
            </a:endParaRPr>
          </a:p>
          <a:p>
            <a:pPr marL="228600" indent="-228600">
              <a:buAutoNum type="arabicPeriod"/>
            </a:pPr>
            <a:endParaRPr lang="en-US" sz="800" dirty="0">
              <a:ea typeface="Calibri"/>
              <a:cs typeface="Calibri"/>
            </a:endParaRPr>
          </a:p>
          <a:p>
            <a:pPr marL="228600" indent="-228600">
              <a:buAutoNum type="arabicPeriod"/>
            </a:pPr>
            <a:endParaRPr lang="en-US" sz="800" dirty="0">
              <a:ea typeface="Calibri"/>
              <a:cs typeface="Calibri"/>
            </a:endParaRPr>
          </a:p>
          <a:p>
            <a:pPr marL="228600" indent="-228600">
              <a:buAutoNum type="arabicPeriod"/>
            </a:pPr>
            <a:endParaRPr lang="en-US" sz="800" dirty="0">
              <a:ea typeface="Calibri"/>
              <a:cs typeface="Calibri"/>
            </a:endParaRPr>
          </a:p>
          <a:p>
            <a:pPr marL="228600" indent="-228600">
              <a:buAutoNum type="arabicPeriod"/>
            </a:pPr>
            <a:endParaRPr lang="en-US" sz="800" dirty="0">
              <a:ea typeface="Calibri"/>
              <a:cs typeface="Calibri"/>
            </a:endParaRPr>
          </a:p>
          <a:p>
            <a:pPr marL="228600" indent="-228600">
              <a:buAutoNum type="arabicPeriod"/>
            </a:pPr>
            <a:endParaRPr lang="en-US" sz="800" dirty="0">
              <a:ea typeface="Calibri"/>
              <a:cs typeface="Calibri"/>
            </a:endParaRPr>
          </a:p>
          <a:p>
            <a:pPr marL="228600" indent="-228600">
              <a:buFont typeface="Arial"/>
              <a:buAutoNum type="arabicPeriod"/>
            </a:pPr>
            <a:endParaRPr lang="en-US" sz="800" dirty="0"/>
          </a:p>
          <a:p>
            <a:pPr marL="228600" indent="-228600">
              <a:buFont typeface="+mj-lt"/>
              <a:buAutoNum type="arabicPeriod"/>
            </a:pPr>
            <a:r>
              <a:rPr lang="en-US" sz="800" dirty="0"/>
              <a:t>Constructed a distance matrix of all teams</a:t>
            </a:r>
          </a:p>
          <a:p>
            <a:pPr marL="228600" indent="-228600">
              <a:buAutoNum type="arabicPeriod"/>
            </a:pPr>
            <a:endParaRPr lang="en-US" sz="800" dirty="0"/>
          </a:p>
          <a:p>
            <a:pPr marL="228600" indent="-228600">
              <a:buAutoNum type="arabicPeriod"/>
            </a:pPr>
            <a:endParaRPr lang="en-US" sz="800" dirty="0">
              <a:ea typeface="Calibri"/>
              <a:cs typeface="Calibri"/>
            </a:endParaRPr>
          </a:p>
          <a:p>
            <a:pPr marL="228600" indent="-228600">
              <a:buAutoNum type="arabicPeriod"/>
            </a:pPr>
            <a:endParaRPr lang="en-US" sz="800" dirty="0">
              <a:ea typeface="Calibri"/>
              <a:cs typeface="Calibri"/>
            </a:endParaRPr>
          </a:p>
          <a:p>
            <a:pPr marL="228600" indent="-228600">
              <a:buAutoNum type="arabicPeriod"/>
            </a:pPr>
            <a:endParaRPr lang="en-US" sz="800" dirty="0"/>
          </a:p>
          <a:p>
            <a:pPr marL="228600" indent="-228600">
              <a:buAutoNum type="arabicPeriod"/>
            </a:pPr>
            <a:endParaRPr lang="en-US" sz="800" dirty="0"/>
          </a:p>
          <a:p>
            <a:pPr marL="228600" indent="-228600">
              <a:buAutoNum type="arabicPeriod"/>
            </a:pPr>
            <a:endParaRPr lang="en-US" sz="800" dirty="0"/>
          </a:p>
          <a:p>
            <a:pPr marL="228600" indent="-228600">
              <a:buAutoNum type="arabicPeriod"/>
            </a:pPr>
            <a:endParaRPr lang="en-US" sz="800" dirty="0"/>
          </a:p>
          <a:p>
            <a:pPr marL="228600" indent="-228600">
              <a:buAutoNum type="arabicPeriod"/>
            </a:pPr>
            <a:endParaRPr lang="en-US" sz="800" dirty="0">
              <a:ea typeface="Calibri"/>
              <a:cs typeface="Calibri"/>
            </a:endParaRPr>
          </a:p>
          <a:p>
            <a:pPr marL="228600" indent="-228600">
              <a:buAutoNum type="arabicPeriod"/>
            </a:pPr>
            <a:endParaRPr lang="en-US" sz="800" dirty="0">
              <a:ea typeface="Calibri"/>
              <a:cs typeface="Calibri"/>
            </a:endParaRPr>
          </a:p>
          <a:p>
            <a:pPr marL="228600" indent="-228600">
              <a:buFont typeface="+mj-lt"/>
              <a:buAutoNum type="arabicPeriod"/>
            </a:pPr>
            <a:r>
              <a:rPr lang="en-US" sz="800" dirty="0"/>
              <a:t>Defined decision variables using a 16 × 16 decision matrix</a:t>
            </a:r>
          </a:p>
          <a:p>
            <a:pPr marL="228600" indent="-228600">
              <a:buFont typeface="+mj-lt"/>
              <a:buAutoNum type="arabicPeriod"/>
            </a:pPr>
            <a:r>
              <a:rPr lang="en-US" sz="800" dirty="0"/>
              <a:t>Created an objective function:</a:t>
            </a:r>
          </a:p>
          <a:p>
            <a:pPr marL="628650" lvl="1" indent="-228600"/>
            <a:r>
              <a:rPr lang="en-US" sz="800" dirty="0"/>
              <a:t>Minimize total travel distance using SUMPRODUCT(</a:t>
            </a:r>
            <a:r>
              <a:rPr lang="en-US" sz="800" dirty="0" err="1"/>
              <a:t>DistanceMatrix,DecisionMatrix</a:t>
            </a:r>
            <a:r>
              <a:rPr lang="en-US" sz="800" dirty="0"/>
              <a:t>)</a:t>
            </a:r>
            <a:endParaRPr lang="en-US" sz="800" dirty="0">
              <a:ea typeface="Calibri"/>
              <a:cs typeface="Calibri"/>
            </a:endParaRPr>
          </a:p>
          <a:p>
            <a:pPr marL="628650" lvl="1" indent="-228600"/>
            <a:endParaRPr lang="en-US" sz="800" dirty="0">
              <a:ea typeface="Calibri"/>
              <a:cs typeface="Calibri"/>
            </a:endParaRPr>
          </a:p>
          <a:p>
            <a:pPr marL="628650" lvl="1" indent="-228600"/>
            <a:endParaRPr lang="en-US" sz="800" dirty="0">
              <a:ea typeface="Calibri"/>
              <a:cs typeface="Calibri"/>
            </a:endParaRPr>
          </a:p>
          <a:p>
            <a:pPr marL="628650" lvl="1" indent="-228600"/>
            <a:endParaRPr lang="en-US" sz="800" dirty="0">
              <a:ea typeface="Calibri"/>
              <a:cs typeface="Calibri"/>
            </a:endParaRPr>
          </a:p>
          <a:p>
            <a:pPr marL="628650" lvl="1" indent="-228600"/>
            <a:endParaRPr lang="en-US" sz="800" dirty="0">
              <a:ea typeface="Calibri"/>
              <a:cs typeface="Calibri"/>
            </a:endParaRPr>
          </a:p>
          <a:p>
            <a:pPr marL="400050" lvl="1" indent="0">
              <a:buNone/>
            </a:pPr>
            <a:endParaRPr lang="en-US" sz="800" dirty="0">
              <a:ea typeface="Calibri"/>
              <a:cs typeface="Calibri"/>
            </a:endParaRPr>
          </a:p>
          <a:p>
            <a:pPr marL="400050" lvl="1" indent="0">
              <a:buNone/>
            </a:pPr>
            <a:endParaRPr lang="en-US" sz="800" dirty="0">
              <a:ea typeface="Calibri"/>
              <a:cs typeface="Calibri"/>
            </a:endParaRPr>
          </a:p>
          <a:p>
            <a:pPr marL="628650" lvl="1" indent="-228600"/>
            <a:endParaRPr lang="en-US" sz="800" dirty="0">
              <a:ea typeface="Calibri"/>
              <a:cs typeface="Calibri"/>
            </a:endParaRPr>
          </a:p>
          <a:p>
            <a:pPr marL="228600" indent="-228600">
              <a:buFont typeface="+mj-lt"/>
              <a:buAutoNum type="arabicPeriod"/>
            </a:pPr>
            <a:r>
              <a:rPr lang="en-US" sz="800" dirty="0"/>
              <a:t>Applied constraints:</a:t>
            </a:r>
          </a:p>
          <a:p>
            <a:pPr marL="628650" lvl="1" indent="-228600"/>
            <a:r>
              <a:rPr lang="en-US" sz="800" dirty="0"/>
              <a:t>Teams play a limited number of non-division games</a:t>
            </a:r>
          </a:p>
          <a:p>
            <a:pPr marL="628650" lvl="1" indent="-228600"/>
            <a:r>
              <a:rPr lang="en-US" sz="800" dirty="0"/>
              <a:t>No duplicate or invalid matchups</a:t>
            </a:r>
          </a:p>
          <a:p>
            <a:pPr marL="228600" indent="-228600">
              <a:buFont typeface="+mj-lt"/>
              <a:buAutoNum type="arabicPeriod"/>
            </a:pPr>
            <a:r>
              <a:rPr lang="en-US" sz="800" dirty="0"/>
              <a:t>Used </a:t>
            </a:r>
            <a:r>
              <a:rPr lang="en-US" sz="800" dirty="0" err="1"/>
              <a:t>OpenSolver</a:t>
            </a:r>
            <a:r>
              <a:rPr lang="en-US" sz="800" dirty="0"/>
              <a:t> with Branch and Bound to compute the optimal schedule</a:t>
            </a:r>
            <a:endParaRPr lang="en-US" sz="800" dirty="0">
              <a:ea typeface="Calibri"/>
              <a:cs typeface="Calibri"/>
            </a:endParaRPr>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b="1" dirty="0">
              <a:ea typeface="Calibri"/>
              <a:cs typeface="Calibri"/>
            </a:endParaRPr>
          </a:p>
          <a:p>
            <a:pPr marL="0" indent="0">
              <a:buFont typeface="Arial"/>
              <a:buNone/>
            </a:pPr>
            <a:endParaRPr lang="en-US" sz="800" dirty="0">
              <a:ea typeface="Calibri"/>
              <a:cs typeface="Calibri"/>
            </a:endParaRPr>
          </a:p>
          <a:p>
            <a:pPr marL="0" indent="0">
              <a:buFont typeface="Arial"/>
              <a:buNone/>
            </a:pPr>
            <a:endParaRPr lang="en-US" sz="800" dirty="0">
              <a:ea typeface="Calibri"/>
              <a:cs typeface="Calibri"/>
            </a:endParaRPr>
          </a:p>
        </p:txBody>
      </p:sp>
      <p:sp>
        <p:nvSpPr>
          <p:cNvPr id="6" name="Content Placeholder 9">
            <a:extLst>
              <a:ext uri="{FF2B5EF4-FFF2-40B4-BE49-F238E27FC236}">
                <a16:creationId xmlns:a16="http://schemas.microsoft.com/office/drawing/2014/main" id="{253D4F13-418A-9BD0-7CA6-763DDCE48475}"/>
              </a:ext>
            </a:extLst>
          </p:cNvPr>
          <p:cNvSpPr txBox="1">
            <a:spLocks/>
          </p:cNvSpPr>
          <p:nvPr/>
        </p:nvSpPr>
        <p:spPr>
          <a:xfrm>
            <a:off x="6155177" y="1089380"/>
            <a:ext cx="2986578" cy="5563106"/>
          </a:xfrm>
          <a:prstGeom prst="rect">
            <a:avLst/>
          </a:prstGeom>
        </p:spPr>
        <p:txBody>
          <a:bodyPr lIns="91440" tIns="45720" rIns="91440" bIns="45720" anchor="t">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800" b="1">
                <a:ea typeface="Calibri"/>
                <a:cs typeface="Calibri"/>
              </a:rPr>
              <a:t>Results: </a:t>
            </a:r>
          </a:p>
          <a:p>
            <a:pPr marL="0" indent="0">
              <a:buNone/>
            </a:pPr>
            <a:r>
              <a:rPr lang="en-US" sz="800" dirty="0">
                <a:ea typeface="Calibri"/>
                <a:cs typeface="Calibri"/>
              </a:rPr>
              <a:t>The optimized model successfully minimized total travel distance for non-division games while satisfying all scheduling constraints.  The use of Solver produced an efficient schedule that reduces unnecessary travel, demonstrating how mathematical optimization can improve real-world sports scheduling.</a:t>
            </a:r>
          </a:p>
          <a:p>
            <a:pPr marL="0" indent="0">
              <a:buNone/>
            </a:pPr>
            <a:endParaRPr lang="en-US" sz="700" b="1" dirty="0">
              <a:ea typeface="Calibri"/>
              <a:cs typeface="Calibri"/>
            </a:endParaRPr>
          </a:p>
          <a:p>
            <a:pPr marL="0" indent="0">
              <a:buNone/>
            </a:pPr>
            <a:endParaRPr lang="en-US" sz="700" dirty="0">
              <a:ea typeface="Calibri"/>
              <a:cs typeface="Calibri"/>
            </a:endParaRPr>
          </a:p>
          <a:p>
            <a:pPr marL="0" indent="0">
              <a:buNone/>
            </a:pPr>
            <a:endParaRPr lang="en-US" sz="700" dirty="0">
              <a:ea typeface="Calibri"/>
              <a:cs typeface="Calibri"/>
            </a:endParaRPr>
          </a:p>
          <a:p>
            <a:pPr marL="0" indent="0">
              <a:buNone/>
            </a:pPr>
            <a:endParaRPr lang="en-US" sz="700" dirty="0">
              <a:ea typeface="Calibri"/>
              <a:cs typeface="Calibri"/>
            </a:endParaRPr>
          </a:p>
          <a:p>
            <a:pPr marL="0" indent="0">
              <a:buNone/>
            </a:pPr>
            <a:endParaRPr lang="en-US" sz="700" dirty="0">
              <a:ea typeface="Calibri"/>
              <a:cs typeface="Calibri"/>
            </a:endParaRPr>
          </a:p>
          <a:p>
            <a:pPr marL="0" indent="0">
              <a:buNone/>
            </a:pPr>
            <a:endParaRPr lang="en-US" sz="700" dirty="0">
              <a:ea typeface="Calibri"/>
              <a:cs typeface="Calibri"/>
            </a:endParaRPr>
          </a:p>
          <a:p>
            <a:pPr marL="0" indent="0">
              <a:buNone/>
            </a:pPr>
            <a:endParaRPr lang="en-US" sz="700" dirty="0">
              <a:ea typeface="Calibri"/>
              <a:cs typeface="Calibri"/>
            </a:endParaRPr>
          </a:p>
          <a:p>
            <a:pPr marL="0" indent="0">
              <a:buNone/>
            </a:pPr>
            <a:endParaRPr lang="en-US" sz="700" dirty="0">
              <a:ea typeface="Calibri"/>
              <a:cs typeface="Calibri"/>
            </a:endParaRPr>
          </a:p>
          <a:p>
            <a:pPr marL="0" indent="0">
              <a:buNone/>
            </a:pPr>
            <a:endParaRPr lang="en-US" sz="700" dirty="0">
              <a:ea typeface="Calibri"/>
              <a:cs typeface="Calibri"/>
            </a:endParaRPr>
          </a:p>
          <a:p>
            <a:pPr marL="0" indent="0">
              <a:buNone/>
            </a:pPr>
            <a:endParaRPr lang="en-US" sz="700" dirty="0">
              <a:ea typeface="Calibri"/>
              <a:cs typeface="Calibri"/>
            </a:endParaRPr>
          </a:p>
          <a:p>
            <a:pPr marL="0" indent="0">
              <a:buNone/>
            </a:pPr>
            <a:r>
              <a:rPr lang="en-US" sz="800" b="1" dirty="0">
                <a:ea typeface="Calibri"/>
                <a:cs typeface="Calibri"/>
              </a:rPr>
              <a:t>Conclusion:</a:t>
            </a:r>
            <a:endParaRPr lang="en-US" sz="800">
              <a:ea typeface="Calibri"/>
              <a:cs typeface="Calibri"/>
            </a:endParaRPr>
          </a:p>
          <a:p>
            <a:r>
              <a:rPr lang="en-US" sz="800">
                <a:ea typeface="+mn-lt"/>
                <a:cs typeface="+mn-lt"/>
              </a:rPr>
              <a:t>Optimization improves scheduling efficiency</a:t>
            </a:r>
            <a:endParaRPr lang="en-US" sz="800" dirty="0">
              <a:ea typeface="Calibri"/>
              <a:cs typeface="Calibri"/>
            </a:endParaRPr>
          </a:p>
          <a:p>
            <a:r>
              <a:rPr lang="en-US" sz="800">
                <a:ea typeface="+mn-lt"/>
                <a:cs typeface="+mn-lt"/>
              </a:rPr>
              <a:t>Travel distance can be minimized using mathematical models</a:t>
            </a:r>
            <a:endParaRPr lang="en-US" sz="800" dirty="0">
              <a:ea typeface="Calibri"/>
              <a:cs typeface="Calibri"/>
            </a:endParaRPr>
          </a:p>
          <a:p>
            <a:r>
              <a:rPr lang="en-US" sz="800">
                <a:ea typeface="+mn-lt"/>
                <a:cs typeface="+mn-lt"/>
              </a:rPr>
              <a:t>Graph theory provides structure for the problem</a:t>
            </a:r>
            <a:endParaRPr lang="en-US" sz="800" dirty="0">
              <a:ea typeface="Calibri"/>
              <a:cs typeface="Calibri"/>
            </a:endParaRPr>
          </a:p>
          <a:p>
            <a:r>
              <a:rPr lang="en-US" sz="800" dirty="0">
                <a:ea typeface="+mn-lt"/>
                <a:cs typeface="+mn-lt"/>
              </a:rPr>
              <a:t>Linear programming determines the best solution</a:t>
            </a:r>
            <a:endParaRPr lang="en-US" sz="800" dirty="0">
              <a:ea typeface="Calibri"/>
              <a:cs typeface="Calibri"/>
            </a:endParaRPr>
          </a:p>
          <a:p>
            <a:r>
              <a:rPr lang="en-US" sz="800" dirty="0">
                <a:ea typeface="+mn-lt"/>
                <a:cs typeface="+mn-lt"/>
              </a:rPr>
              <a:t>Solver and Branch &amp; Bound ensure optimal results</a:t>
            </a:r>
            <a:endParaRPr lang="en-US" sz="800" dirty="0">
              <a:ea typeface="Calibri"/>
              <a:cs typeface="Calibri"/>
            </a:endParaRPr>
          </a:p>
          <a:p>
            <a:pPr marL="0" indent="0">
              <a:buNone/>
            </a:pPr>
            <a:r>
              <a:rPr lang="en-US" sz="800" b="1">
                <a:ea typeface="Calibri"/>
                <a:cs typeface="Calibri"/>
              </a:rPr>
              <a:t>Future work:</a:t>
            </a:r>
            <a:endParaRPr lang="en-US" sz="800" dirty="0">
              <a:ea typeface="Calibri"/>
              <a:cs typeface="Calibri"/>
            </a:endParaRPr>
          </a:p>
          <a:p>
            <a:r>
              <a:rPr lang="en-US" sz="800">
                <a:ea typeface="Calibri"/>
                <a:cs typeface="Calibri"/>
              </a:rPr>
              <a:t>Love to do it for all the sports at FMU</a:t>
            </a:r>
            <a:endParaRPr lang="en-US" sz="800" dirty="0">
              <a:ea typeface="Calibri"/>
              <a:cs typeface="Calibri"/>
            </a:endParaRPr>
          </a:p>
          <a:p>
            <a:r>
              <a:rPr lang="en-US" sz="800">
                <a:ea typeface="Calibri"/>
                <a:cs typeface="Calibri"/>
              </a:rPr>
              <a:t>incorporate Actuarial Sciences into it one days</a:t>
            </a:r>
            <a:endParaRPr lang="en-US" sz="800" dirty="0">
              <a:ea typeface="Calibri"/>
              <a:cs typeface="Calibri"/>
            </a:endParaRPr>
          </a:p>
          <a:p>
            <a:pPr marL="0" indent="0">
              <a:buNone/>
            </a:pPr>
            <a:r>
              <a:rPr lang="en-US" sz="800" b="1" dirty="0">
                <a:ea typeface="Calibri"/>
                <a:cs typeface="Calibri"/>
              </a:rPr>
              <a:t>Citations:</a:t>
            </a:r>
          </a:p>
          <a:p>
            <a:pPr>
              <a:buNone/>
            </a:pPr>
            <a:r>
              <a:rPr lang="en-US" sz="800" dirty="0" err="1">
                <a:ea typeface="+mn-lt"/>
                <a:cs typeface="+mn-lt"/>
                <a:hlinkClick r:id="rId2"/>
              </a:rPr>
              <a:t>htt</a:t>
            </a:r>
            <a:r>
              <a:rPr lang="en-US" sz="800" dirty="0">
                <a:ea typeface="+mn-lt"/>
                <a:cs typeface="+mn-lt"/>
                <a:hlinkClick r:id="rId2"/>
              </a:rPr>
              <a:t>ps://www.numberanalytics.com/blog/graph-theory-fundamentals-beginners-guide</a:t>
            </a:r>
            <a:endParaRPr lang="en-US" sz="800" dirty="0">
              <a:ea typeface="+mn-lt"/>
              <a:cs typeface="+mn-lt"/>
            </a:endParaRPr>
          </a:p>
          <a:p>
            <a:pPr>
              <a:buNone/>
            </a:pPr>
            <a:r>
              <a:rPr lang="en-US" sz="800" dirty="0">
                <a:ea typeface="+mn-lt"/>
                <a:cs typeface="+mn-lt"/>
                <a:hlinkClick r:id="rId3"/>
              </a:rPr>
              <a:t>https://www.cuemath.com/algebra/objective-function/</a:t>
            </a:r>
            <a:endParaRPr lang="en-US" sz="800" dirty="0">
              <a:ea typeface="+mn-lt"/>
              <a:cs typeface="+mn-lt"/>
            </a:endParaRPr>
          </a:p>
          <a:p>
            <a:pPr>
              <a:buNone/>
            </a:pPr>
            <a:r>
              <a:rPr lang="en-US" sz="800" dirty="0">
                <a:ea typeface="+mn-lt"/>
                <a:cs typeface="+mn-lt"/>
                <a:hlinkClick r:id="rId4"/>
              </a:rPr>
              <a:t>https://support.microsoft.com/en-us/office/define-and-solve-a-problem-by-using-solver-5d1a388f-079d-43ac-a7eb-f63e45925040</a:t>
            </a:r>
            <a:endParaRPr lang="en-US" sz="800" dirty="0">
              <a:ea typeface="Calibri"/>
              <a:cs typeface="Calibri"/>
            </a:endParaRPr>
          </a:p>
          <a:p>
            <a:pPr>
              <a:buNone/>
            </a:pPr>
            <a:r>
              <a:rPr lang="en-US" sz="800" dirty="0">
                <a:ea typeface="Calibri"/>
                <a:cs typeface="Calibri"/>
                <a:hlinkClick r:id="rId5"/>
              </a:rPr>
              <a:t>https://en.wikipedia.org/wiki/Branch_and_bound</a:t>
            </a:r>
            <a:endParaRPr lang="en-US" sz="800" dirty="0">
              <a:ea typeface="Calibri"/>
              <a:cs typeface="Calibri"/>
            </a:endParaRPr>
          </a:p>
          <a:p>
            <a:pPr marL="0" indent="0">
              <a:buNone/>
            </a:pPr>
            <a:r>
              <a:rPr lang="en-US" sz="800" b="1">
                <a:ea typeface="Calibri"/>
                <a:cs typeface="Calibri"/>
              </a:rPr>
              <a:t>Acknowledgements:</a:t>
            </a:r>
            <a:endParaRPr lang="en-US" sz="800" dirty="0">
              <a:ea typeface="Calibri"/>
              <a:cs typeface="Calibri"/>
            </a:endParaRPr>
          </a:p>
          <a:p>
            <a:pPr>
              <a:buNone/>
            </a:pPr>
            <a:r>
              <a:rPr lang="en-US" sz="800">
                <a:ea typeface="+mn-lt"/>
                <a:cs typeface="+mn-lt"/>
              </a:rPr>
              <a:t>Sponsor: Dr. Thomas Fitzkee</a:t>
            </a:r>
            <a:endParaRPr lang="en-US" sz="800" dirty="0">
              <a:ea typeface="Calibri"/>
              <a:cs typeface="Calibri"/>
            </a:endParaRPr>
          </a:p>
          <a:p>
            <a:pPr>
              <a:buNone/>
            </a:pPr>
            <a:r>
              <a:rPr lang="en-US" sz="800">
                <a:ea typeface="+mn-lt"/>
                <a:cs typeface="+mn-lt"/>
              </a:rPr>
              <a:t>Mr. Phillips (Linear Programming)</a:t>
            </a:r>
            <a:endParaRPr lang="en-US" sz="800" dirty="0">
              <a:ea typeface="Calibri"/>
              <a:cs typeface="Calibri"/>
            </a:endParaRPr>
          </a:p>
          <a:p>
            <a:pPr>
              <a:buNone/>
            </a:pPr>
            <a:r>
              <a:rPr lang="en-US" sz="800">
                <a:ea typeface="+mn-lt"/>
                <a:cs typeface="+mn-lt"/>
              </a:rPr>
              <a:t>Savannah Bailey, Furman University Linear Programming in ACC Women’s Basketball at NCUWM</a:t>
            </a:r>
            <a:endParaRPr lang="en-US" sz="800" dirty="0">
              <a:ea typeface="Calibri"/>
              <a:cs typeface="Calibri"/>
            </a:endParaRPr>
          </a:p>
          <a:p>
            <a:pPr>
              <a:buNone/>
            </a:pPr>
            <a:r>
              <a:rPr lang="en-US" sz="800">
                <a:ea typeface="Calibri"/>
                <a:cs typeface="Calibri"/>
              </a:rPr>
              <a:t>MYSELF</a:t>
            </a:r>
            <a:endParaRPr lang="en-US" sz="800" dirty="0">
              <a:ea typeface="Calibri"/>
              <a:cs typeface="Calibri"/>
            </a:endParaRPr>
          </a:p>
          <a:p>
            <a:pPr marL="0" indent="0">
              <a:buNone/>
            </a:pPr>
            <a:endParaRPr lang="en-US" sz="800" dirty="0">
              <a:ea typeface="Calibri"/>
              <a:cs typeface="Calibri"/>
            </a:endParaRPr>
          </a:p>
          <a:p>
            <a:pPr marL="0" indent="0">
              <a:buNone/>
            </a:pPr>
            <a:endParaRPr lang="en-US" sz="800" b="1" dirty="0">
              <a:ea typeface="Calibri"/>
              <a:cs typeface="Calibri"/>
            </a:endParaRPr>
          </a:p>
          <a:p>
            <a:pPr marL="0" indent="0">
              <a:buNone/>
            </a:pPr>
            <a:endParaRPr lang="en-US" sz="800" dirty="0">
              <a:ea typeface="Calibri"/>
              <a:cs typeface="Calibri"/>
            </a:endParaRPr>
          </a:p>
          <a:p>
            <a:pPr marL="0" indent="0">
              <a:buNone/>
            </a:pPr>
            <a:endParaRPr lang="en-US" sz="800" dirty="0">
              <a:ea typeface="Calibri"/>
              <a:cs typeface="Calibri"/>
            </a:endParaRPr>
          </a:p>
        </p:txBody>
      </p:sp>
      <p:sp>
        <p:nvSpPr>
          <p:cNvPr id="7" name="TextBox 6">
            <a:extLst>
              <a:ext uri="{FF2B5EF4-FFF2-40B4-BE49-F238E27FC236}">
                <a16:creationId xmlns:a16="http://schemas.microsoft.com/office/drawing/2014/main" id="{622E0D6B-D1EB-B876-2293-A17AA3FA93F0}"/>
              </a:ext>
            </a:extLst>
          </p:cNvPr>
          <p:cNvSpPr txBox="1"/>
          <p:nvPr/>
        </p:nvSpPr>
        <p:spPr>
          <a:xfrm>
            <a:off x="969899" y="319477"/>
            <a:ext cx="8103763" cy="584775"/>
          </a:xfrm>
          <a:prstGeom prst="rect">
            <a:avLst/>
          </a:prstGeom>
          <a:noFill/>
        </p:spPr>
        <p:txBody>
          <a:bodyPr wrap="square" rtlCol="0">
            <a:spAutoFit/>
          </a:bodyPr>
          <a:lstStyle/>
          <a:p>
            <a:pPr algn="ctr"/>
            <a:r>
              <a:rPr lang="en-US" sz="1600" dirty="0"/>
              <a:t>Optimizing FMU Women’s Soccer Conference Carolina’s Schedule Using Graph Theory and Linear Programming </a:t>
            </a:r>
          </a:p>
        </p:txBody>
      </p:sp>
      <p:sp>
        <p:nvSpPr>
          <p:cNvPr id="8" name="TextBox 7">
            <a:extLst>
              <a:ext uri="{FF2B5EF4-FFF2-40B4-BE49-F238E27FC236}">
                <a16:creationId xmlns:a16="http://schemas.microsoft.com/office/drawing/2014/main" id="{40D7B1D9-F8FA-4B25-EC97-E5C6672ED267}"/>
              </a:ext>
            </a:extLst>
          </p:cNvPr>
          <p:cNvSpPr txBox="1"/>
          <p:nvPr/>
        </p:nvSpPr>
        <p:spPr>
          <a:xfrm>
            <a:off x="895546" y="812381"/>
            <a:ext cx="8178116" cy="276999"/>
          </a:xfrm>
          <a:prstGeom prst="rect">
            <a:avLst/>
          </a:prstGeom>
          <a:noFill/>
        </p:spPr>
        <p:txBody>
          <a:bodyPr wrap="square" rtlCol="0">
            <a:spAutoFit/>
          </a:bodyPr>
          <a:lstStyle/>
          <a:p>
            <a:pPr algn="ctr"/>
            <a:r>
              <a:rPr lang="en-US" sz="1200" dirty="0"/>
              <a:t>Researcher: </a:t>
            </a:r>
            <a:r>
              <a:rPr lang="en-US" sz="1200" dirty="0" err="1"/>
              <a:t>Tauzhanee</a:t>
            </a:r>
            <a:r>
              <a:rPr lang="en-US" sz="1200" dirty="0"/>
              <a:t> Spann	Research Advisor: Dr. Thomas Fitzkee </a:t>
            </a:r>
          </a:p>
        </p:txBody>
      </p:sp>
      <p:pic>
        <p:nvPicPr>
          <p:cNvPr id="2" name="Picture 1" descr="A colorful chart with numbers&#10;&#10;AI-generated content may be incorrect.">
            <a:extLst>
              <a:ext uri="{FF2B5EF4-FFF2-40B4-BE49-F238E27FC236}">
                <a16:creationId xmlns:a16="http://schemas.microsoft.com/office/drawing/2014/main" id="{0ECF5F77-A55C-8214-2FDC-7A74E3436E9B}"/>
              </a:ext>
            </a:extLst>
          </p:cNvPr>
          <p:cNvPicPr>
            <a:picLocks noChangeAspect="1"/>
          </p:cNvPicPr>
          <p:nvPr/>
        </p:nvPicPr>
        <p:blipFill>
          <a:blip r:embed="rId6"/>
          <a:stretch>
            <a:fillRect/>
          </a:stretch>
        </p:blipFill>
        <p:spPr>
          <a:xfrm>
            <a:off x="6233402" y="1896184"/>
            <a:ext cx="2844530" cy="935276"/>
          </a:xfrm>
          <a:prstGeom prst="rect">
            <a:avLst/>
          </a:prstGeom>
        </p:spPr>
      </p:pic>
      <p:pic>
        <p:nvPicPr>
          <p:cNvPr id="3" name="Picture 2" descr="A screen shot of a phone&#10;&#10;AI-generated content may be incorrect.">
            <a:extLst>
              <a:ext uri="{FF2B5EF4-FFF2-40B4-BE49-F238E27FC236}">
                <a16:creationId xmlns:a16="http://schemas.microsoft.com/office/drawing/2014/main" id="{B3BD97A6-BF00-66B6-C851-C0BC94C1214D}"/>
              </a:ext>
            </a:extLst>
          </p:cNvPr>
          <p:cNvPicPr>
            <a:picLocks noChangeAspect="1"/>
          </p:cNvPicPr>
          <p:nvPr/>
        </p:nvPicPr>
        <p:blipFill>
          <a:blip r:embed="rId7"/>
          <a:stretch>
            <a:fillRect/>
          </a:stretch>
        </p:blipFill>
        <p:spPr>
          <a:xfrm>
            <a:off x="7093288" y="2914145"/>
            <a:ext cx="1299859" cy="339052"/>
          </a:xfrm>
          <a:prstGeom prst="rect">
            <a:avLst/>
          </a:prstGeom>
        </p:spPr>
      </p:pic>
      <p:pic>
        <p:nvPicPr>
          <p:cNvPr id="9" name="Picture 8" descr="A diagram of a diagram">
            <a:extLst>
              <a:ext uri="{FF2B5EF4-FFF2-40B4-BE49-F238E27FC236}">
                <a16:creationId xmlns:a16="http://schemas.microsoft.com/office/drawing/2014/main" id="{DF75E3B3-1C15-B3F4-14D3-922183A6B85F}"/>
              </a:ext>
            </a:extLst>
          </p:cNvPr>
          <p:cNvPicPr>
            <a:picLocks noChangeAspect="1"/>
          </p:cNvPicPr>
          <p:nvPr/>
        </p:nvPicPr>
        <p:blipFill>
          <a:blip r:embed="rId8"/>
          <a:stretch>
            <a:fillRect/>
          </a:stretch>
        </p:blipFill>
        <p:spPr>
          <a:xfrm>
            <a:off x="3455854" y="1519947"/>
            <a:ext cx="1804280" cy="1551563"/>
          </a:xfrm>
          <a:prstGeom prst="rect">
            <a:avLst/>
          </a:prstGeom>
        </p:spPr>
      </p:pic>
      <p:pic>
        <p:nvPicPr>
          <p:cNvPr id="11" name="Picture 10" descr="A table with numbers and red and blue squares&#10;&#10;AI-generated content may be incorrect.">
            <a:extLst>
              <a:ext uri="{FF2B5EF4-FFF2-40B4-BE49-F238E27FC236}">
                <a16:creationId xmlns:a16="http://schemas.microsoft.com/office/drawing/2014/main" id="{CA88F1F4-5231-B001-4EDF-388E347862F3}"/>
              </a:ext>
            </a:extLst>
          </p:cNvPr>
          <p:cNvPicPr>
            <a:picLocks noChangeAspect="1"/>
          </p:cNvPicPr>
          <p:nvPr/>
        </p:nvPicPr>
        <p:blipFill>
          <a:blip r:embed="rId9"/>
          <a:stretch>
            <a:fillRect/>
          </a:stretch>
        </p:blipFill>
        <p:spPr>
          <a:xfrm>
            <a:off x="3195333" y="3249140"/>
            <a:ext cx="2947888" cy="1118478"/>
          </a:xfrm>
          <a:prstGeom prst="rect">
            <a:avLst/>
          </a:prstGeom>
        </p:spPr>
      </p:pic>
      <p:pic>
        <p:nvPicPr>
          <p:cNvPr id="12" name="Picture 11" descr="A mathematical equation with numbers and symbols&#10;&#10;AI-generated content may be incorrect.">
            <a:extLst>
              <a:ext uri="{FF2B5EF4-FFF2-40B4-BE49-F238E27FC236}">
                <a16:creationId xmlns:a16="http://schemas.microsoft.com/office/drawing/2014/main" id="{E9D21C8A-A05F-A7B7-522A-CAC0502394EC}"/>
              </a:ext>
            </a:extLst>
          </p:cNvPr>
          <p:cNvPicPr>
            <a:picLocks noChangeAspect="1"/>
          </p:cNvPicPr>
          <p:nvPr/>
        </p:nvPicPr>
        <p:blipFill>
          <a:blip r:embed="rId10"/>
          <a:stretch>
            <a:fillRect/>
          </a:stretch>
        </p:blipFill>
        <p:spPr>
          <a:xfrm>
            <a:off x="3266468" y="5047744"/>
            <a:ext cx="2815344" cy="721670"/>
          </a:xfrm>
          <a:prstGeom prst="rect">
            <a:avLst/>
          </a:prstGeom>
        </p:spPr>
      </p:pic>
    </p:spTree>
    <p:extLst>
      <p:ext uri="{BB962C8B-B14F-4D97-AF65-F5344CB8AC3E}">
        <p14:creationId xmlns:p14="http://schemas.microsoft.com/office/powerpoint/2010/main" val="4229446824"/>
      </p:ext>
    </p:extLst>
  </p:cSld>
  <p:clrMapOvr>
    <a:masterClrMapping/>
  </p:clrMapOvr>
</p:sld>
</file>

<file path=ppt/theme/theme1.xml><?xml version="1.0" encoding="utf-8"?>
<a:theme xmlns:a="http://schemas.openxmlformats.org/drawingml/2006/main" name="FM PowerPoint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FM PowerPoint Theme.thmx</Template>
  <TotalTime>101</TotalTime>
  <Words>484</Words>
  <Application>Microsoft Office PowerPoint</Application>
  <PresentationFormat>On-screen Show (4:3)</PresentationFormat>
  <Paragraphs>84</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FM PowerPoint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Ivan</dc:creator>
  <cp:lastModifiedBy>MathLab</cp:lastModifiedBy>
  <cp:revision>196</cp:revision>
  <dcterms:created xsi:type="dcterms:W3CDTF">2018-08-15T15:31:58Z</dcterms:created>
  <dcterms:modified xsi:type="dcterms:W3CDTF">2026-04-20T19:35:00Z</dcterms:modified>
</cp:coreProperties>
</file>